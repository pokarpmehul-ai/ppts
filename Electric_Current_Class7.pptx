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4" r:id="rId36"/>
    <p:sldId id="278" r:id="rId24"/>
    <p:sldId id="279" r:id="rId25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7.pn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5D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Current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its Effects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Symbols  ·  Circuits  ·  Heating Effect  ·  Fuse &amp; Safety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389120"/>
            <a:ext cx="2926080" cy="640080"/>
          </a:xfrm>
          <a:prstGeom prst="roundRect">
            <a:avLst>
              <a:gd name="adj" fmla="val 14286"/>
            </a:avLst>
          </a:prstGeom>
          <a:solidFill>
            <a:srgbClr val="2F5D3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7  ·  Science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we learn?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490472"/>
            <a:ext cx="548640" cy="54864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490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143560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Symbols of Components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45920" y="1783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standard symbols for cell, bulb, switch, battery and wire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2860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450592"/>
            <a:ext cx="548640" cy="54864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239572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45920" y="27432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two or more cells are joined to make a battery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2461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68680" y="3410712"/>
            <a:ext cx="548640" cy="54864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33558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Diagrams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45920" y="37033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and read simple electric circuit diagrams using symbols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2062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370832"/>
            <a:ext cx="548640" cy="54864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370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45920" y="431596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Heating Effect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645920" y="466344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current produces heat and where this effect is used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1663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8680" y="5330952"/>
            <a:ext cx="548640" cy="54864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330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45920" y="527608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 &amp; Safety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645920" y="562356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about electric fuse, short circuit and overload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3812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Steady is Your Hand?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6304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Paheli and Boojho set up a fun game using an electric circuit (from Class 6).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enjoyed it so much that they wanted to share it with their cousin in another town.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Paheli drew a neat picture of all the parts. But drawing every component was hard.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Boojho wondered: Is there an easier way to show these electric parts?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Yes! We use special symbols for each electric component.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symbols make circuit diagrams simple, neat and easy to understand.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5212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electricity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74720" y="438912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6616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5212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light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438912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5212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ON / OFF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0" y="4389120"/>
            <a:ext cx="26517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235440" y="46634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35440" y="52120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parts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Symbol of an Electric Cell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377440" y="2560320"/>
            <a:ext cx="109728" cy="1828800"/>
          </a:xfrm>
          <a:prstGeom prst="rect">
            <a:avLst/>
          </a:prstGeom>
          <a:solidFill>
            <a:srgbClr val="1A1F1C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0" y="2926080"/>
            <a:ext cx="365760" cy="1097280"/>
          </a:xfrm>
          <a:prstGeom prst="rect">
            <a:avLst/>
          </a:prstGeom>
          <a:solidFill>
            <a:srgbClr val="1A1F1C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56616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line  →  Positive terminal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thick line  →  Negative terminal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83680" y="210312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electric cell has two terminals: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Positive terminal (+)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longer line in the symbol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Negative terminal (−)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shorter, thicker line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flows from the positive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to the negative terminal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external circuit.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Symbol of an Electric Bulb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86000" y="2468880"/>
            <a:ext cx="1828800" cy="1828800"/>
          </a:xfrm>
          <a:prstGeom prst="ellipse">
            <a:avLst/>
          </a:prstGeom>
          <a:solidFill>
            <a:srgbClr val="FFF3E0"/>
          </a:solidFill>
          <a:ln w="31750">
            <a:solidFill>
              <a:srgbClr val="1A1F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2651760"/>
            <a:ext cx="1463040" cy="1463040"/>
          </a:xfrm>
          <a:prstGeom prst="line">
            <a:avLst/>
          </a:prstGeom>
          <a:noFill/>
          <a:ln w="25400">
            <a:solidFill>
              <a:srgbClr val="1A1F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2651760"/>
            <a:ext cx="-1463040" cy="1463040"/>
          </a:xfrm>
          <a:prstGeom prst="line">
            <a:avLst/>
          </a:prstGeom>
          <a:noFill/>
          <a:ln w="25400">
            <a:solidFill>
              <a:srgbClr val="1A1F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634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with a cross (or filament mark)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an electric bulb.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Bulb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219456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thin wire called the filament.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electric current passes through the filament, it becomes very hot and starts glowing.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filament breaks, the bulb is said to be fused and it will not glow.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Symbols of a Switch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394960" cy="109728"/>
          </a:xfrm>
          <a:prstGeom prst="rect">
            <a:avLst/>
          </a:prstGeom>
          <a:solidFill>
            <a:srgbClr val="2F5D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in ON Position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645920" y="3200400"/>
            <a:ext cx="1097280" cy="0"/>
          </a:xfrm>
          <a:prstGeom prst="line">
            <a:avLst/>
          </a:prstGeom>
          <a:noFill/>
          <a:ln w="38100">
            <a:solidFill>
              <a:srgbClr val="1A1F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3200400"/>
            <a:ext cx="1371600" cy="0"/>
          </a:xfrm>
          <a:prstGeom prst="line">
            <a:avLst/>
          </a:prstGeom>
          <a:noFill/>
          <a:ln w="38100">
            <a:solidFill>
              <a:srgbClr val="1A1F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3063240"/>
            <a:ext cx="274320" cy="274320"/>
          </a:xfrm>
          <a:prstGeom prst="ellipse">
            <a:avLst/>
          </a:prstGeom>
          <a:solidFill>
            <a:srgbClr val="1A1F1C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9319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closed.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can flow through the circuit.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circuit is complete (closed).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371600"/>
            <a:ext cx="5394960" cy="109728"/>
          </a:xfrm>
          <a:prstGeom prst="rect">
            <a:avLst/>
          </a:prstGeom>
          <a:solidFill>
            <a:srgbClr val="E5A23B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in OFF Position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23760" y="3200400"/>
            <a:ext cx="1097280" cy="0"/>
          </a:xfrm>
          <a:prstGeom prst="line">
            <a:avLst/>
          </a:prstGeom>
          <a:noFill/>
          <a:ln w="38100">
            <a:solidFill>
              <a:srgbClr val="1A1F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0" y="3200400"/>
            <a:ext cx="1097280" cy="0"/>
          </a:xfrm>
          <a:prstGeom prst="line">
            <a:avLst/>
          </a:prstGeom>
          <a:noFill/>
          <a:ln w="38100">
            <a:solidFill>
              <a:srgbClr val="1A1F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3200400"/>
            <a:ext cx="731520" cy="-548640"/>
          </a:xfrm>
          <a:prstGeom prst="line">
            <a:avLst/>
          </a:prstGeom>
          <a:noFill/>
          <a:ln w="38100">
            <a:solidFill>
              <a:srgbClr val="1A1F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393192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gap.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cannot flow.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circuit is incomplete (open).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4765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Battery and Wire Symbols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45920" y="2651760"/>
            <a:ext cx="91440" cy="1463040"/>
          </a:xfrm>
          <a:prstGeom prst="rect">
            <a:avLst/>
          </a:prstGeom>
          <a:solidFill>
            <a:srgbClr val="1A1F1C"/>
          </a:solidFill>
          <a:ln/>
        </p:spPr>
      </p:sp>
      <p:sp>
        <p:nvSpPr>
          <p:cNvPr id="11" name="Shape 9"/>
          <p:cNvSpPr/>
          <p:nvPr/>
        </p:nvSpPr>
        <p:spPr>
          <a:xfrm>
            <a:off x="2103120" y="2926080"/>
            <a:ext cx="274320" cy="914400"/>
          </a:xfrm>
          <a:prstGeom prst="rect">
            <a:avLst/>
          </a:prstGeom>
          <a:solidFill>
            <a:srgbClr val="1A1F1C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0" y="2651760"/>
            <a:ext cx="91440" cy="1463040"/>
          </a:xfrm>
          <a:prstGeom prst="rect">
            <a:avLst/>
          </a:prstGeom>
          <a:solidFill>
            <a:srgbClr val="1A1F1C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2926080"/>
            <a:ext cx="274320" cy="914400"/>
          </a:xfrm>
          <a:prstGeom prst="rect">
            <a:avLst/>
          </a:prstGeom>
          <a:solidFill>
            <a:srgbClr val="1A1F1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891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cells joined together.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of one connected to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of the next.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4652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0" y="3200400"/>
            <a:ext cx="3200400" cy="0"/>
          </a:xfrm>
          <a:prstGeom prst="line">
            <a:avLst/>
          </a:prstGeom>
          <a:noFill/>
          <a:ln w="38100">
            <a:solidFill>
              <a:srgbClr val="1A1F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8404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straight line.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are used to connect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 components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circuit.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 – All Symbols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72800" cy="4754880"/>
        </p:xfrm>
        <a:graphic>
          <a:graphicData uri="http://schemas.openxmlformats.org/drawingml/2006/table">
            <a:tbl>
              <a:tblPr/>
              <a:tblGrid>
                <a:gridCol w="3657600"/>
                <a:gridCol w="7315200"/>
              </a:tblGrid>
              <a:tr h="679269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F9ED5"/>
                          </a:solidFill>
                          <a:latin typeface="Calibri"/>
                          <a:ea typeface="Calibri"/>
                        </a:rPr>
                        <a:t>Component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F9ED5"/>
                          </a:solidFill>
                          <a:latin typeface="Calibri"/>
                          <a:ea typeface="Calibri"/>
                        </a:rPr>
                        <a:t>Symbol Description</a:t>
                      </a: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 Cell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line (+) and shorter thick line (−)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 Bulb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 with a cross (filament) inside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path – no gap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OFF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path – with a gap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or more cell symbols joined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A1F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Straight 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B0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Battery?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10972800" cy="1280160"/>
          </a:xfrm>
          <a:prstGeom prst="roundRect">
            <a:avLst>
              <a:gd name="adj" fmla="val 7143"/>
            </a:avLst>
          </a:prstGeom>
          <a:solidFill>
            <a:srgbClr val="E8F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630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battery is made by connecting two or more electric cells together.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positive terminal of one cell is connected to the negative terminal of the next cell.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that use batteries: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08760" y="3566160"/>
            <a:ext cx="914400" cy="91440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5074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2–4 cells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0" y="32918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3566160"/>
            <a:ext cx="914400" cy="91440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66160" y="4663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Remote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66160" y="5074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2 AA cells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32918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78040" y="3566160"/>
            <a:ext cx="914400" cy="91440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00800" y="4663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5074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 AA or AAA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44000" y="329184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012680" y="3566160"/>
            <a:ext cx="914400" cy="91440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28" name="Text 26"/>
          <p:cNvSpPr/>
          <p:nvPr/>
        </p:nvSpPr>
        <p:spPr>
          <a:xfrm>
            <a:off x="10012680" y="3566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235440" y="4663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Transistor / Radio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35440" y="5074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pack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Connect Cells Correctly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Connection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(+) of one cell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connected to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(−) of the next cell.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a battery is formed.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can then flow properly.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Tip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inside any battery compartment of a torch or remote.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see a metal strip connecting the terminals.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and − signs are printed to help you place the cells the right way.</a:t>
            </a:r>
            <a:endParaRPr lang="en-US" sz="1500" dirty="0"/>
          </a:p>
        </p:txBody>
      </p:sp>
      <p:pic>
        <p:nvPicPr>
          <p:cNvPr id="14" name="Picture 14"/>
          <p:cNvPicPr/>
          <p:nvPr/>
        </p:nvPicPr>
        <p:blipFill>
          <a:blip r:embed="rId3"/>
          <a:stretch>
            <a:fillRect/>
          </a:stretch>
        </p:blipFill>
        <p:spPr>
          <a:xfrm>
            <a:off x="2236864" y="1965960"/>
            <a:ext cx="2201391" cy="1064208"/>
          </a:xfrm>
          <a:prstGeom prst="rect">
            <a:avLst/>
          </a:prstGeom>
        </p:spPr>
      </p:pic>
      <p:pic>
        <p:nvPicPr>
          <p:cNvPr id="15" name="Picture 15"/>
          <p:cNvPicPr/>
          <p:nvPr/>
        </p:nvPicPr>
        <p:blipFill>
          <a:blip r:embed="rId4"/>
          <a:stretch>
            <a:fillRect/>
          </a:stretch>
        </p:blipFill>
        <p:spPr>
          <a:xfrm>
            <a:off x="8040952" y="1905564"/>
            <a:ext cx="1840336" cy="13461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Circuit Diagram?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10972800" cy="1188720"/>
          </a:xfrm>
          <a:prstGeom prst="roundRect">
            <a:avLst>
              <a:gd name="adj" fmla="val 7692"/>
            </a:avLst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63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circuit diagram is a simple drawing of an electric circuit using the standard symbols.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much easier and clearer than drawing the real components.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points: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331012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Circuit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36576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is ON. Path is complete. Current flows. Bulb glows.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" y="427024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Circuit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6177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is OFF. Path is broken. No current. Bulb does not glow.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512064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523036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55778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wire inside the bulb. It glows when current passes through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Circuit (Switch ON)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53949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flows  →  Bulb glows</a:t>
            </a:r>
            <a:endParaRPr lang="en-US" sz="1600" dirty="0"/>
          </a:p>
        </p:txBody>
      </p:sp>
      <p:pic>
        <p:nvPicPr>
          <p:cNvPr id="22" name="Picture 22"/>
          <p:cNvPicPr/>
          <p:nvPr/>
        </p:nvPicPr>
        <p:blipFill>
          <a:blip r:embed="rId3"/>
          <a:stretch>
            <a:fillRect/>
          </a:stretch>
        </p:blipFill>
        <p:spPr>
          <a:xfrm>
            <a:off x="3585858" y="1667994"/>
            <a:ext cx="4421918" cy="29896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Circuit (Switch OFF)</a:t>
            </a:r>
            <a:endParaRPr lang="en-US" sz="2200" dirty="0"/>
          </a:p>
        </p:txBody>
      </p:sp>
      <p:pic>
        <p:nvPicPr>
          <p:cNvPr id="23" name="Picture 23"/>
          <p:cNvPicPr/>
          <p:nvPr/>
        </p:nvPicPr>
        <p:blipFill>
          <a:blip r:embed="rId3"/>
          <a:stretch>
            <a:fillRect/>
          </a:stretch>
        </p:blipFill>
        <p:spPr>
          <a:xfrm>
            <a:off x="3535633" y="1865092"/>
            <a:ext cx="5120734" cy="26529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HEATING EFFECT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/34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Heating Effect of Electric Current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10972800" cy="1280160"/>
          </a:xfrm>
          <a:prstGeom prst="roundRect">
            <a:avLst>
              <a:gd name="adj" fmla="val 7143"/>
            </a:avLst>
          </a:prstGeom>
          <a:solidFill>
            <a:srgbClr val="FFF3E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630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electric current passes through a wire, the wire becomes hot.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known as the heating effect of electric current.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appliances that use this effect: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Heater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74720" y="333756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6616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Iron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333756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Immersion Rod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0" y="333756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35440" y="3840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Kettle</a:t>
            </a:r>
            <a:endParaRPr lang="en-US" sz="1500" dirty="0"/>
          </a:p>
        </p:txBody>
      </p:sp>
      <p:pic>
        <p:nvPicPr>
          <p:cNvPr id="23" name="Picture 23"/>
          <p:cNvPicPr/>
          <p:nvPr/>
        </p:nvPicPr>
        <p:blipFill>
          <a:blip r:embed="rId4"/>
          <a:stretch>
            <a:fillRect/>
          </a:stretch>
        </p:blipFill>
        <p:spPr>
          <a:xfrm>
            <a:off x="1155630" y="4304725"/>
            <a:ext cx="1743528" cy="1508756"/>
          </a:xfrm>
          <a:prstGeom prst="rect">
            <a:avLst/>
          </a:prstGeom>
        </p:spPr>
      </p:pic>
      <p:pic>
        <p:nvPicPr>
          <p:cNvPr id="24" name="Picture 24"/>
          <p:cNvPicPr/>
          <p:nvPr/>
        </p:nvPicPr>
        <p:blipFill>
          <a:blip r:embed="rId5"/>
          <a:stretch>
            <a:fillRect/>
          </a:stretch>
        </p:blipFill>
        <p:spPr>
          <a:xfrm>
            <a:off x="4004870" y="4394875"/>
            <a:ext cx="1500019" cy="1328456"/>
          </a:xfrm>
          <a:prstGeom prst="rect">
            <a:avLst/>
          </a:prstGeom>
        </p:spPr>
      </p:pic>
      <p:pic>
        <p:nvPicPr>
          <p:cNvPr id="25" name="Picture 25"/>
          <p:cNvPicPr/>
          <p:nvPr/>
        </p:nvPicPr>
        <p:blipFill>
          <a:blip r:embed="rId6"/>
          <a:stretch>
            <a:fillRect/>
          </a:stretch>
        </p:blipFill>
        <p:spPr>
          <a:xfrm rot="5335750">
            <a:off x="8791968" y="4394875"/>
            <a:ext cx="1007145" cy="2180076"/>
          </a:xfrm>
          <a:prstGeom prst="rect">
            <a:avLst/>
          </a:prstGeom>
        </p:spPr>
      </p:pic>
      <p:pic>
        <p:nvPicPr>
          <p:cNvPr id="26" name="Picture 26"/>
          <p:cNvPicPr/>
          <p:nvPr/>
        </p:nvPicPr>
        <p:blipFill>
          <a:blip r:embed="rId7"/>
          <a:stretch>
            <a:fillRect/>
          </a:stretch>
        </p:blipFill>
        <p:spPr>
          <a:xfrm>
            <a:off x="9799692" y="4394875"/>
            <a:ext cx="1340376" cy="12114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3812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Feel the Heating Effect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textbook (Activity 10.2)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4592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783080"/>
            <a:ext cx="502920" cy="50292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18288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circuit with one cell, a bulb, a switch and connecting wires.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51460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651760"/>
            <a:ext cx="502920" cy="50292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2697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switch in the OFF position. Touch the bulb – it is cool.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38328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3520440"/>
            <a:ext cx="502920" cy="50292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35661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switch to ON and let the bulb glow for about one minute.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25196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4389120"/>
            <a:ext cx="502920" cy="50292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" y="44348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Carefully touch the bulb again. It now feels warm.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51206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5257800"/>
            <a:ext cx="502920" cy="50292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45920" y="5303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warmth is due to the heating effect of the electric current.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Element?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10972800" cy="1188720"/>
          </a:xfrm>
          <a:prstGeom prst="roundRect">
            <a:avLst>
              <a:gd name="adj" fmla="val 7692"/>
            </a:avLst>
          </a:prstGeom>
          <a:solidFill>
            <a:srgbClr val="FFF3E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087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coil of wire inside many electric appliances that becomes red hot and gives out heat is called an element.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Appliances that contain an element: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5661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Iron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34840" y="32004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35661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Plate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0" y="320040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0" y="35661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Immersion Heater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61772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4983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Geyser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434840" y="461772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17720" y="4983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Kettle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0" y="4617720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12480" y="4983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Hair Dryer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HEATING EFFECT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Affects the Heat Produced?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heat produced in a wire depends on three things: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10972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148840"/>
            <a:ext cx="640080" cy="64008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828800" y="20574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of the wire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828800" y="25146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materials (like nichrome) heat up more easily than others.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246120"/>
            <a:ext cx="10972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566160"/>
            <a:ext cx="640080" cy="64008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28800" y="34747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of the wire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828800" y="39319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longer wire produces more heat than a shorter wire of the same material.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663440"/>
            <a:ext cx="10972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983480"/>
            <a:ext cx="640080" cy="640080"/>
          </a:xfrm>
          <a:prstGeom prst="ellipse">
            <a:avLst/>
          </a:prstGeom>
          <a:solidFill>
            <a:srgbClr val="6E9BB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828800" y="48920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Thickness of the wire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828800" y="53492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thinner wire becomes hotter than a thicker wire of the same material and length.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Lighting Options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5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Ordinary (Incandescent) Bulb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800475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 a thin filament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Filament becomes so hot that it glows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large part of electricity is wasted as heat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 electricity-efficient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bulbs are slowly being replaced.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Choices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3571875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Fluorescent tube-lights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CFL (Compact Fluorescent Lamps)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 bulbs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bulbs use the least electricity for the same brightness.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look for the ISI mark on electrical products for safety and quality.</a:t>
            </a:r>
            <a:endParaRPr lang="en-US" sz="1500" dirty="0"/>
          </a:p>
        </p:txBody>
      </p:sp>
      <p:pic>
        <p:nvPicPr>
          <p:cNvPr id="14" name="Picture 14"/>
          <p:cNvPicPr/>
          <p:nvPr/>
        </p:nvPicPr>
        <p:blipFill>
          <a:blip r:embed="rId4"/>
          <a:stretch>
            <a:fillRect/>
          </a:stretch>
        </p:blipFill>
        <p:spPr>
          <a:xfrm>
            <a:off x="1908166" y="2072260"/>
            <a:ext cx="2147677" cy="2354732"/>
          </a:xfrm>
          <a:prstGeom prst="rect">
            <a:avLst/>
          </a:prstGeom>
        </p:spPr>
      </p:pic>
      <p:pic>
        <p:nvPicPr>
          <p:cNvPr id="15" name="Picture 15"/>
          <p:cNvPicPr/>
          <p:nvPr/>
        </p:nvPicPr>
        <p:blipFill>
          <a:blip r:embed="rId5"/>
          <a:stretch>
            <a:fillRect/>
          </a:stretch>
        </p:blipFill>
        <p:spPr>
          <a:xfrm>
            <a:off x="8301406" y="2161248"/>
            <a:ext cx="1477012" cy="19165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Fuse – A Safety Device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CE4E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6304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fuse contains a thin wire made of a special material that melts quickly when a large current flows through it.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breaks the circuit and stops the current, protecting the wiring and appliances from damage or fire.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2521" y="4172475"/>
            <a:ext cx="3587876" cy="2246794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4186" y="4523537"/>
            <a:ext cx="3224547" cy="49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appliances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4186" y="5145922"/>
            <a:ext cx="3224547" cy="842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excess current from damaging devices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02062" y="4162950"/>
            <a:ext cx="3587876" cy="2246794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3727" y="4514012"/>
            <a:ext cx="3224547" cy="49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fire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3727" y="5145922"/>
            <a:ext cx="3224547" cy="842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the circuit before wires overheat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71603" y="4162950"/>
            <a:ext cx="3587876" cy="2246794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53267" y="4514012"/>
            <a:ext cx="3224547" cy="491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us safe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53267" y="5145922"/>
            <a:ext cx="3224547" cy="842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risk of electric shock and accidents</a:t>
            </a:r>
            <a:endParaRPr lang="en-US" sz="1400" dirty="0"/>
          </a:p>
        </p:txBody>
      </p:sp>
      <p:pic>
        <p:nvPicPr>
          <p:cNvPr id="19" name="Picture 19"/>
          <p:cNvPicPr/>
          <p:nvPr/>
        </p:nvPicPr>
        <p:blipFill>
          <a:blip r:embed="rId3"/>
          <a:stretch>
            <a:fillRect/>
          </a:stretch>
        </p:blipFill>
        <p:spPr>
          <a:xfrm>
            <a:off x="1162160" y="2560320"/>
            <a:ext cx="1755203" cy="1621473"/>
          </a:xfrm>
          <a:prstGeom prst="rect">
            <a:avLst/>
          </a:prstGeom>
        </p:spPr>
      </p:pic>
      <p:pic>
        <p:nvPicPr>
          <p:cNvPr id="20" name="Picture 20"/>
          <p:cNvPicPr/>
          <p:nvPr/>
        </p:nvPicPr>
        <p:blipFill>
          <a:blip r:embed="rId4"/>
          <a:stretch>
            <a:fillRect/>
          </a:stretch>
        </p:blipFill>
        <p:spPr>
          <a:xfrm>
            <a:off x="4691628" y="2697480"/>
            <a:ext cx="2256980" cy="1341413"/>
          </a:xfrm>
          <a:prstGeom prst="rect">
            <a:avLst/>
          </a:prstGeom>
        </p:spPr>
      </p:pic>
      <p:pic>
        <p:nvPicPr>
          <p:cNvPr id="21" name="Picture 21"/>
          <p:cNvPicPr/>
          <p:nvPr/>
        </p:nvPicPr>
        <p:blipFill>
          <a:blip r:embed="rId5"/>
          <a:stretch>
            <a:fillRect/>
          </a:stretch>
        </p:blipFill>
        <p:spPr>
          <a:xfrm>
            <a:off x="8768633" y="2658050"/>
            <a:ext cx="1096908" cy="14202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 Fuse Work?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572768"/>
            <a:ext cx="640080" cy="64008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15087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 current flows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28800" y="18745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fuse wire stays intact and current flows safely through the circuit.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2761488"/>
            <a:ext cx="640080" cy="64008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7614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28800" y="269748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becomes too large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28800" y="30632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to short circuit or overload, the current rises above the safe limit.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3950208"/>
            <a:ext cx="640080" cy="64008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950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28800" y="388620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 wire melts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28800" y="425196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special thin wire heats up quickly and melts, creating a gap.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5138928"/>
            <a:ext cx="640080" cy="64008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138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828800" y="507492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828800" y="54406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stops flowing. Appliances and the wiring of the house are protected.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Circuit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FCE4E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5448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circuit happens when the insulation on the wires is damaged and the live and neutral wires touch each other directly.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causes a very large current to flow suddenly through the circuit.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cause a short circuit?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206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Worn insulation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Insulation comes off due to wear and tear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34840" y="39319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4206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Damaged wires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48463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get cut or frayed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393192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0" y="4206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Faulty appliances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12480" y="48463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short inside a device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180015" y="23812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 /  34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20095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Overload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0972800" cy="18288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0876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overload happens when too many appliances are connected to a single socket.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current drawn becomes more than the safe limit of the circuit.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wires heat up and can cause a fire.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avoid overload: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93192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4069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Do not plug too many devices into one socket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48006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Use separate sockets for heavy appliances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539496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5532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Always have a proper fuse in the circuit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TIPS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i="0"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Safety Tips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481328"/>
            <a:ext cx="457200" cy="45720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15087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touch a lighted electric bulb connected to the mains – it can burn your hand.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2258568"/>
            <a:ext cx="457200" cy="45720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22860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experiment with the electric supply from the mains, generator or inverter.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035808"/>
            <a:ext cx="457200" cy="45720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306324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electric cells for all classroom activities suggested in this chapter.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70332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3813048"/>
            <a:ext cx="457200" cy="45720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54480" y="384048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try to investigate an electric fuse connected to the mains on your own.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48056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46177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the ISI mark when buying electrical products – it is a mark of quality and safety.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257800"/>
            <a:ext cx="109728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8680" y="5367528"/>
            <a:ext cx="457200" cy="45720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54480" y="53949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 of damaged fluorescent tubes and CFLs safely – they contain mercury vapour.</a:t>
            </a:r>
            <a:endParaRPr lang="en-US" sz="1400" dirty="0"/>
          </a:p>
        </p:txBody>
      </p:sp>
      <p:sp>
        <p:nvSpPr>
          <p:cNvPr id="32" name="Text 1"/>
          <p:cNvSpPr/>
          <p:nvPr/>
        </p:nvSpPr>
        <p:spPr>
          <a:xfrm>
            <a:off x="10456240" y="228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 /  34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Activity: Seeing a Wire Melt (Activity 10.4)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textbook – shows why fuse wires melt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1874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circuit used earlier, but use a battery of four cells.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697480"/>
            <a:ext cx="502920" cy="50292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2743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nichrome wire, tie a thin strand of steel wool between the nails.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3566160"/>
            <a:ext cx="502920" cy="50292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off any fans in the room.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4434840"/>
            <a:ext cx="502920" cy="50292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" y="4480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current for some time and carefully observe the steel wool.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40080" y="5166360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5303520"/>
            <a:ext cx="502920" cy="50292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4592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strand of steel wool melts and breaks – just like a fuse wire does.</a:t>
            </a:r>
            <a:endParaRPr lang="en-US" sz="1500" dirty="0"/>
          </a:p>
        </p:txBody>
      </p:sp>
      <p:sp>
        <p:nvSpPr>
          <p:cNvPr id="29" name="Text 1"/>
          <p:cNvSpPr/>
          <p:nvPr/>
        </p:nvSpPr>
        <p:spPr>
          <a:xfrm>
            <a:off x="10484815" y="21907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 /  34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pPr indent="0" marL="0">
              <a:buNone/>
            </a:pPr>
            <a:r>
              <a:rPr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</a:t>
            </a:r>
            <a:pPr indent="0" marL="0">
              <a:buNone/>
            </a:pPr>
            <a:r>
              <a:rPr lang="en-US" sz="1200" b="1" spc="300" kern="0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DEVICE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MCB – Miniature Circuit Breaker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72800" cy="1234440"/>
          </a:xfrm>
          <a:prstGeom prst="roundRect">
            <a:avLst>
              <a:gd name="adj" fmla="val 7407"/>
            </a:avLst>
          </a:prstGeom>
          <a:solidFill>
            <a:srgbClr val="E8F4F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MCB is a modern safety device that automatically switches off the electric circuit when the current becomes larger than the safe limit.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fuse, it does not melt – it can be reset and used again.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880360"/>
            <a:ext cx="3611880" cy="109728"/>
          </a:xfrm>
          <a:prstGeom prst="rect">
            <a:avLst/>
          </a:prstGeom>
          <a:solidFill>
            <a:srgbClr val="2F5D3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54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Detects excess current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Switches the circuit OFF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Protects wires &amp; appliances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be switched ON again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34840" y="288036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2880360"/>
            <a:ext cx="3611880" cy="109728"/>
          </a:xfrm>
          <a:prstGeom prst="rect">
            <a:avLst/>
          </a:prstGeom>
          <a:solidFill>
            <a:srgbClr val="E5A23B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3154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over Fuse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37947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need to replace a wire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be reset easily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faster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Safer and more convenient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Current and its Effects  ·  Class 7 Science</a:t>
            </a:r>
            <a:endParaRPr lang="en-US" sz="1100" dirty="0"/>
          </a:p>
        </p:txBody>
      </p:sp>
      <p:pic>
        <p:nvPicPr>
          <p:cNvPr id="20" name="Picture 20"/>
          <p:cNvPicPr/>
          <p:nvPr/>
        </p:nvPicPr>
        <p:blipFill>
          <a:blip r:embed="rId2"/>
          <a:stretch>
            <a:fillRect/>
          </a:stretch>
        </p:blipFill>
        <p:spPr>
          <a:xfrm>
            <a:off x="8570416" y="2816764"/>
            <a:ext cx="2427329" cy="3142900"/>
          </a:xfrm>
          <a:prstGeom prst="rect">
            <a:avLst/>
          </a:prstGeom>
        </p:spPr>
      </p:pic>
      <p:sp>
        <p:nvSpPr>
          <p:cNvPr id="21" name="Text 1"/>
          <p:cNvSpPr/>
          <p:nvPr/>
        </p:nvSpPr>
        <p:spPr>
          <a:xfrm>
            <a:off x="10332415" y="24765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 /  34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spc="300">
                <a:solidFill>
                  <a:srgbClr val="707571"/>
                </a:solidFill>
                <a:latin typeface="Arial"/>
                <a:ea typeface="Arial"/>
                <a:cs typeface="Arial"/>
              </a:rPr>
              <a:t>·  </a:t>
            </a:r>
            <a:r>
              <a:rPr sz="1200" b="1" spc="300">
                <a:solidFill>
                  <a:srgbClr val="1A1F1C"/>
                </a:solidFill>
                <a:latin typeface="Arial"/>
                <a:ea typeface="Arial"/>
                <a:cs typeface="Arial"/>
              </a:rPr>
              <a:t>MAGNETIC EFFECT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Effect of Electric Current  ·  Class 7 Science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Magnetic Effect of Electric Current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E8F4FC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087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electric current flows through a wire, it produces a magnetic field around the wire.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the magnetic effect of electric current.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 behaves like a magnet as long as the current is flowing.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Activity to Observe this Effect: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Take a straight copper wire and connect it to a battery through a switch.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Place a magnetic compass near the wire.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When the switch is OFF, the compass needle points in the north-south direction.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When the switch is ON, the needle deflects – showing a magnetic field is present.</a:t>
            </a:r>
            <a:endParaRPr lang="en-US" sz="1500" dirty="0"/>
          </a:p>
        </p:txBody>
      </p:sp>
      <p:sp>
        <p:nvSpPr>
          <p:cNvPr id="15" name="Text 1"/>
          <p:cNvSpPr/>
          <p:nvPr/>
        </p:nvSpPr>
        <p:spPr>
          <a:xfrm>
            <a:off x="10446715" y="21907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 /  34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spc="300">
                <a:solidFill>
                  <a:srgbClr val="707571"/>
                </a:solidFill>
                <a:latin typeface="Arial"/>
                <a:ea typeface="Arial"/>
                <a:cs typeface="Arial"/>
              </a:rPr>
              <a:t>·  </a:t>
            </a:r>
            <a:r>
              <a:rPr sz="1200" b="1" spc="300">
                <a:solidFill>
                  <a:srgbClr val="1A1F1C"/>
                </a:solidFill>
                <a:latin typeface="Arial"/>
                <a:ea typeface="Arial"/>
                <a:cs typeface="Arial"/>
              </a:rPr>
              <a:t>MAGNETIC EFFECT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Effect of Electric Current  ·  Class 7 Science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to the Compass?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5394960" cy="109728"/>
          </a:xfrm>
          <a:prstGeom prst="rect">
            <a:avLst/>
          </a:prstGeom>
          <a:solidFill>
            <a:srgbClr val="2F5D3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5D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OFF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377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current in the wire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magnetic field around the wire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Compass needle stays 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north-south direction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Wire does not behave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like a magnet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371600"/>
            <a:ext cx="5394960" cy="109728"/>
          </a:xfrm>
          <a:prstGeom prst="rect">
            <a:avLst/>
          </a:prstGeom>
          <a:solidFill>
            <a:srgbClr val="E5A2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5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2377440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Current flows in the wire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Magnetic field is produced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Compass needle deflects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Wire behaves like a magnet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 long as current flows</a:t>
            </a:r>
            <a:endParaRPr lang="en-US" sz="1600" dirty="0"/>
          </a:p>
        </p:txBody>
      </p:sp>
      <p:sp>
        <p:nvSpPr>
          <p:cNvPr id="16" name="Text 1"/>
          <p:cNvSpPr/>
          <p:nvPr/>
        </p:nvSpPr>
        <p:spPr>
          <a:xfrm>
            <a:off x="10494340" y="21907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 /  34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spc="300">
                <a:solidFill>
                  <a:srgbClr val="707571"/>
                </a:solidFill>
                <a:latin typeface="Arial"/>
                <a:ea typeface="Arial"/>
                <a:cs typeface="Arial"/>
              </a:rPr>
              <a:t>  ·  </a:t>
            </a:r>
            <a:r>
              <a:rPr sz="1200" b="1" spc="300">
                <a:solidFill>
                  <a:srgbClr val="1A1F1C"/>
                </a:solidFill>
                <a:latin typeface="Arial"/>
                <a:ea typeface="Arial"/>
                <a:cs typeface="Arial"/>
              </a:rPr>
              <a:t>MAGNETIC EFFECT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Effect of Electric Current  ·  Class 7 Science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Points to Remember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600200"/>
            <a:ext cx="594360" cy="59436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83080" y="155448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produces magnetism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83080" y="19202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wire carrying current acts like a magnet.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56032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2788920"/>
            <a:ext cx="594360" cy="59436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83080" y="27432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effect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83080" y="310896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magnetic effect is present only while the current is flowing.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3977640"/>
            <a:ext cx="594360" cy="59436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83080" y="393192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 matters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83080" y="429768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direction of current is reversed, the direction of the magnetic field also reverses.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0080" y="4937760"/>
            <a:ext cx="10972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5166360"/>
            <a:ext cx="594360" cy="59436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166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83080" y="512064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 depends on current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83080" y="548640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current → stronger magnetic field around the wire.</a:t>
            </a:r>
            <a:endParaRPr lang="en-US" sz="1500" dirty="0"/>
          </a:p>
        </p:txBody>
      </p:sp>
      <p:sp>
        <p:nvSpPr>
          <p:cNvPr id="28" name="Text 1"/>
          <p:cNvSpPr/>
          <p:nvPr/>
        </p:nvSpPr>
        <p:spPr>
          <a:xfrm>
            <a:off x="10580065" y="18097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 /  34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spc="300">
                <a:solidFill>
                  <a:srgbClr val="707571"/>
                </a:solidFill>
                <a:latin typeface="Arial"/>
                <a:ea typeface="Arial"/>
                <a:cs typeface="Arial"/>
              </a:rPr>
              <a:t>·  </a:t>
            </a:r>
            <a:r>
              <a:rPr sz="1200" b="1" spc="300">
                <a:solidFill>
                  <a:srgbClr val="1A1F1C"/>
                </a:solidFill>
                <a:latin typeface="Arial"/>
                <a:ea typeface="Arial"/>
                <a:cs typeface="Arial"/>
              </a:rPr>
              <a:t>ELECTROMAGNET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Effect of Electric Current  ·  Class 7 Science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Electromagnet?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0972800" cy="1463040"/>
          </a:xfrm>
          <a:prstGeom prst="roundRect">
            <a:avLst>
              <a:gd name="adj" fmla="val 6250"/>
            </a:avLst>
          </a:prstGeom>
          <a:solidFill>
            <a:srgbClr val="E8F5E9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087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electromagnet is a temporary magnet made by winding a coil of insulated wire around a soft iron core and passing electric current through the coil.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behaves as a magnet only when current is flowing. When the current is switched off, it loses its magnetism.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parts of an electromagnet: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9319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Iron Core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6634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 iron rod or bar that becomes magnetised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434840" y="36118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39319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Insulated Wire Coil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46634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turns of copper wire wound around the core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36118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0" y="39319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Current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46634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must flow through the coil to produce magnetism</a:t>
            </a:r>
            <a:endParaRPr lang="en-US" sz="1400" dirty="0"/>
          </a:p>
        </p:txBody>
      </p:sp>
      <p:pic>
        <p:nvPicPr>
          <p:cNvPr id="20" name="Picture 20"/>
          <p:cNvPicPr/>
          <p:nvPr/>
        </p:nvPicPr>
        <p:blipFill>
          <a:blip r:embed="rId3"/>
          <a:stretch>
            <a:fillRect/>
          </a:stretch>
        </p:blipFill>
        <p:spPr>
          <a:xfrm>
            <a:off x="4919917" y="84393"/>
            <a:ext cx="2351862" cy="1424367"/>
          </a:xfrm>
          <a:prstGeom prst="rect">
            <a:avLst/>
          </a:prstGeom>
        </p:spPr>
      </p:pic>
      <p:sp>
        <p:nvSpPr>
          <p:cNvPr id="21" name="Text 1"/>
          <p:cNvSpPr/>
          <p:nvPr/>
        </p:nvSpPr>
        <p:spPr>
          <a:xfrm>
            <a:off x="10580065" y="20955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 /  34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spc="300">
                <a:solidFill>
                  <a:srgbClr val="707571"/>
                </a:solidFill>
                <a:latin typeface="Arial"/>
                <a:ea typeface="Arial"/>
                <a:cs typeface="Arial"/>
              </a:rPr>
              <a:t>·  </a:t>
            </a:r>
            <a:r>
              <a:rPr sz="1200" b="1" spc="300">
                <a:solidFill>
                  <a:srgbClr val="1A1F1C"/>
                </a:solidFill>
                <a:latin typeface="Arial"/>
                <a:ea typeface="Arial"/>
                <a:cs typeface="Arial"/>
              </a:rPr>
              <a:t>ELECTROMAGNET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Effect of Electric Current  ·  Class 7 Science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Make a Simple Electromagnet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527048"/>
            <a:ext cx="502920" cy="50292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soft iron nail or a soft iron rod.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2441448"/>
            <a:ext cx="502920" cy="50292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2468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many turns of insulated copper wire tightly around it (this forms the coil).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355848"/>
            <a:ext cx="502920" cy="50292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3383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two ends of the wire to a battery through a switch.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270248"/>
            <a:ext cx="502920" cy="50292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297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switch is turned ON, the iron nail becomes a magnet and can attract iron pins or paper clips.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029200"/>
            <a:ext cx="10972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45920" y="52120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switch is turned OFF, the nail loses its magnetism and the pins fall off.</a:t>
            </a:r>
            <a:endParaRPr lang="en-US" sz="1500" dirty="0"/>
          </a:p>
        </p:txBody>
      </p:sp>
      <p:sp>
        <p:nvSpPr>
          <p:cNvPr id="28" name="Text 1"/>
          <p:cNvSpPr/>
          <p:nvPr/>
        </p:nvSpPr>
        <p:spPr>
          <a:xfrm>
            <a:off x="10513390" y="21907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 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spc="300">
                <a:solidFill>
                  <a:srgbClr val="707571"/>
                </a:solidFill>
                <a:latin typeface="Arial"/>
                <a:ea typeface="Arial"/>
                <a:cs typeface="Arial"/>
              </a:rPr>
              <a:t>·  </a:t>
            </a:r>
            <a:r>
              <a:rPr sz="1200" b="1" spc="300">
                <a:solidFill>
                  <a:srgbClr val="1A1F1C"/>
                </a:solidFill>
                <a:latin typeface="Arial"/>
                <a:ea typeface="Arial"/>
                <a:cs typeface="Arial"/>
              </a:rPr>
              <a:t>ELECTROMAGNET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Effect of Electric Current  ·  Class 7 Science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Make an Electromagnet Stronger?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783080"/>
            <a:ext cx="640080" cy="64008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16916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the number of turns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828800" y="214884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turns of wire in the coil → stronger electromagnet.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297180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337560"/>
            <a:ext cx="640080" cy="64008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828800" y="32461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the current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828800" y="370332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stronger battery or more cells → stronger magnetism.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52628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4892040"/>
            <a:ext cx="640080" cy="640080"/>
          </a:xfrm>
          <a:prstGeom prst="ellipse">
            <a:avLst/>
          </a:prstGeom>
          <a:solidFill>
            <a:srgbClr val="6E9BBC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828800" y="48006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soft iron core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828800" y="52578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iron gets magnetised easily and makes a strong electromagnet.</a:t>
            </a:r>
            <a:endParaRPr lang="en-US" sz="1500" dirty="0"/>
          </a:p>
        </p:txBody>
      </p:sp>
      <p:sp>
        <p:nvSpPr>
          <p:cNvPr id="23" name="Text 1"/>
          <p:cNvSpPr/>
          <p:nvPr/>
        </p:nvSpPr>
        <p:spPr>
          <a:xfrm>
            <a:off x="10494340" y="23812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 34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spc="300">
                <a:solidFill>
                  <a:srgbClr val="707571"/>
                </a:solidFill>
                <a:latin typeface="Arial"/>
                <a:ea typeface="Arial"/>
                <a:cs typeface="Arial"/>
              </a:rPr>
              <a:t>·  </a:t>
            </a:r>
            <a:r>
              <a:rPr sz="1200" b="1" spc="300">
                <a:solidFill>
                  <a:srgbClr val="1A1F1C"/>
                </a:solidFill>
                <a:latin typeface="Arial"/>
                <a:ea typeface="Arial"/>
                <a:cs typeface="Arial"/>
              </a:rPr>
              <a:t>ELECTROMAGNET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Effect of Electric Current  ·  Class 7 Science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of Electromagnets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46304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Bell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34840" y="137160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17720" y="1419225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0" y="137160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12480" y="142875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Loudspeakers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25603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i="0" b="0"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74904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3758565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Doorbells &amp; Relays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34840" y="374904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376809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MRI Machines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29600" y="374904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12480" y="3739515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Motors</a:t>
            </a:r>
            <a:endParaRPr lang="en-US" sz="1600" dirty="0"/>
          </a:p>
        </p:txBody>
      </p:sp>
      <p:pic>
        <p:nvPicPr>
          <p:cNvPr id="26" name="Picture 26"/>
          <p:cNvPicPr/>
          <p:nvPr/>
        </p:nvPicPr>
        <p:blipFill>
          <a:blip r:embed="rId3"/>
          <a:stretch>
            <a:fillRect/>
          </a:stretch>
        </p:blipFill>
        <p:spPr>
          <a:xfrm>
            <a:off x="1651680" y="2011680"/>
            <a:ext cx="1588680" cy="1300306"/>
          </a:xfrm>
          <a:prstGeom prst="rect">
            <a:avLst/>
          </a:prstGeom>
        </p:spPr>
      </p:pic>
      <p:pic>
        <p:nvPicPr>
          <p:cNvPr id="27" name="Picture 27"/>
          <p:cNvPicPr/>
          <p:nvPr/>
        </p:nvPicPr>
        <p:blipFill>
          <a:blip r:embed="rId4"/>
          <a:stretch>
            <a:fillRect/>
          </a:stretch>
        </p:blipFill>
        <p:spPr>
          <a:xfrm>
            <a:off x="5657205" y="1857631"/>
            <a:ext cx="1284587" cy="1608403"/>
          </a:xfrm>
          <a:prstGeom prst="rect">
            <a:avLst/>
          </a:prstGeom>
        </p:spPr>
      </p:pic>
      <p:pic>
        <p:nvPicPr>
          <p:cNvPr id="28" name="Picture 28"/>
          <p:cNvPicPr/>
          <p:nvPr/>
        </p:nvPicPr>
        <p:blipFill>
          <a:blip r:embed="rId5"/>
          <a:stretch>
            <a:fillRect/>
          </a:stretch>
        </p:blipFill>
        <p:spPr>
          <a:xfrm>
            <a:off x="9020401" y="1871812"/>
            <a:ext cx="1906989" cy="1440174"/>
          </a:xfrm>
          <a:prstGeom prst="rect">
            <a:avLst/>
          </a:prstGeom>
        </p:spPr>
      </p:pic>
      <p:pic>
        <p:nvPicPr>
          <p:cNvPr id="29" name="Picture 29"/>
          <p:cNvPicPr/>
          <p:nvPr/>
        </p:nvPicPr>
        <p:blipFill>
          <a:blip r:embed="rId6"/>
          <a:stretch>
            <a:fillRect/>
          </a:stretch>
        </p:blipFill>
        <p:spPr>
          <a:xfrm>
            <a:off x="1526858" y="4206240"/>
            <a:ext cx="1838325" cy="1743075"/>
          </a:xfrm>
          <a:prstGeom prst="rect">
            <a:avLst/>
          </a:prstGeom>
        </p:spPr>
      </p:pic>
      <p:pic>
        <p:nvPicPr>
          <p:cNvPr id="30" name="Picture 30"/>
          <p:cNvPicPr/>
          <p:nvPr/>
        </p:nvPicPr>
        <p:blipFill>
          <a:blip r:embed="rId7"/>
          <a:stretch>
            <a:fillRect/>
          </a:stretch>
        </p:blipFill>
        <p:spPr>
          <a:xfrm>
            <a:off x="5063769" y="4279202"/>
            <a:ext cx="2354022" cy="1597151"/>
          </a:xfrm>
          <a:prstGeom prst="rect">
            <a:avLst/>
          </a:prstGeom>
        </p:spPr>
      </p:pic>
      <p:pic>
        <p:nvPicPr>
          <p:cNvPr id="31" name="Picture 31"/>
          <p:cNvPicPr/>
          <p:nvPr/>
        </p:nvPicPr>
        <p:blipFill>
          <a:blip r:embed="rId8"/>
          <a:stretch>
            <a:fillRect/>
          </a:stretch>
        </p:blipFill>
        <p:spPr>
          <a:xfrm>
            <a:off x="9146558" y="4316730"/>
            <a:ext cx="2029979" cy="1517799"/>
          </a:xfrm>
          <a:prstGeom prst="rect">
            <a:avLst/>
          </a:prstGeom>
        </p:spPr>
      </p:pic>
      <p:sp>
        <p:nvSpPr>
          <p:cNvPr id="32" name="Text 1"/>
          <p:cNvSpPr/>
          <p:nvPr/>
        </p:nvSpPr>
        <p:spPr>
          <a:xfrm>
            <a:off x="10618165" y="24765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 34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spc="300">
                <a:solidFill>
                  <a:srgbClr val="707571"/>
                </a:solidFill>
                <a:latin typeface="Arial"/>
                <a:ea typeface="Arial"/>
                <a:cs typeface="Arial"/>
              </a:rPr>
              <a:t>·  </a:t>
            </a:r>
            <a:r>
              <a:rPr sz="1200" b="1" spc="300">
                <a:solidFill>
                  <a:srgbClr val="1A1F1C"/>
                </a:solidFill>
                <a:latin typeface="Arial"/>
                <a:ea typeface="Arial"/>
                <a:cs typeface="Arial"/>
              </a:rPr>
              <a:t>ELECTRIC BELL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Effect of Electric Current  ·  Class 7 Science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Bell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1371600"/>
            <a:ext cx="10972800" cy="1280160"/>
          </a:xfrm>
          <a:prstGeom prst="roundRect">
            <a:avLst>
              <a:gd name="adj" fmla="val 7143"/>
            </a:avLst>
          </a:prstGeom>
          <a:solidFill>
            <a:srgbClr val="FFF3E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508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electric bell is a common device that uses an electromagnet to produce sound.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press the switch, the bell rings because of the continuous make-and-break of the circuit by the electromagnet.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parts of an electric bell: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Electromagnet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663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iron core with coil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0" y="338328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1188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11880" y="4663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iron strip that moves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338328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Hammer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4663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Strikes the gong to produce sound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0" y="338328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81160" y="3840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Screw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81160" y="4663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A4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and breaks the circuit</a:t>
            </a:r>
            <a:endParaRPr lang="en-US" sz="1400" dirty="0"/>
          </a:p>
        </p:txBody>
      </p:sp>
      <p:sp>
        <p:nvSpPr>
          <p:cNvPr id="23" name="Text 1"/>
          <p:cNvSpPr/>
          <p:nvPr/>
        </p:nvSpPr>
        <p:spPr>
          <a:xfrm>
            <a:off x="10618165" y="23812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 34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spc="300">
                <a:solidFill>
                  <a:srgbClr val="707571"/>
                </a:solidFill>
                <a:latin typeface="Arial"/>
                <a:ea typeface="Arial"/>
                <a:cs typeface="Arial"/>
              </a:rPr>
              <a:t>·  </a:t>
            </a:r>
            <a:r>
              <a:rPr sz="1200" b="1" spc="300">
                <a:solidFill>
                  <a:srgbClr val="1A1F1C"/>
                </a:solidFill>
                <a:latin typeface="Arial"/>
                <a:ea typeface="Arial"/>
                <a:cs typeface="Arial"/>
              </a:rPr>
              <a:t>ELECTRIC BELL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594360"/>
            <a:ext cx="10911535" cy="0"/>
          </a:xfrm>
          <a:prstGeom prst="line">
            <a:avLst/>
          </a:prstGeom>
          <a:noFill/>
          <a:ln w="9525">
            <a:solidFill>
              <a:srgbClr val="B8B0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3796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75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Effect of Electric Current  ·  Class 7 Science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822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an Electric Bell Work?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1435608"/>
            <a:ext cx="502920" cy="50292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435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14630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switch is pressed, current flows through the coil of the electromagnet.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2258568"/>
            <a:ext cx="502920" cy="50292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258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22860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electromagnet becomes magnetised and attracts the soft iron armature.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081528"/>
            <a:ext cx="502920" cy="502920"/>
          </a:xfrm>
          <a:prstGeom prst="ellipse">
            <a:avLst/>
          </a:prstGeom>
          <a:solidFill>
            <a:srgbClr val="2F5D3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31089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armature moves and the hammer attached to it strikes the gong → bell rings.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3904488"/>
            <a:ext cx="502920" cy="50292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00200" y="39319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same time, the contact is broken and current stops flowing.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4727448"/>
            <a:ext cx="502920" cy="50292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727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00200" y="47548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electromagnet loses magnetism. The armature springs back and contact is made again.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544068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68680" y="5550408"/>
            <a:ext cx="502920" cy="502920"/>
          </a:xfrm>
          <a:prstGeom prst="ellipse">
            <a:avLst/>
          </a:prstGeom>
          <a:solidFill>
            <a:srgbClr val="E5A23B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550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600200" y="55778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flows again and the process repeats rapidly → continuous ringing.</a:t>
            </a:r>
            <a:endParaRPr lang="en-US" sz="1400" dirty="0"/>
          </a:p>
        </p:txBody>
      </p:sp>
      <p:sp>
        <p:nvSpPr>
          <p:cNvPr id="32" name="Text 1"/>
          <p:cNvSpPr/>
          <p:nvPr/>
        </p:nvSpPr>
        <p:spPr>
          <a:xfrm>
            <a:off x="10675315" y="219075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i="0" b="0" lang="en-US" sz="1200" spc="300" kern="0" dirty="0">
                <a:solidFill>
                  <a:srgbClr val="7075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 34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Current and its Effects - Class 7</dc:title>
  <dc:subject>PptxGenJS Presentation</dc:subject>
  <dc:creator>Science Teacher</dc:creator>
  <cp:lastModifiedBy>Science Teacher</cp:lastModifiedBy>
  <cp:revision>1</cp:revision>
  <dcterms:created xsi:type="dcterms:W3CDTF">2026-09-20T04:00:34Z</dcterms:created>
  <dcterms:modified xsi:type="dcterms:W3CDTF">2026-09-20T04:00:34Z</dcterms:modified>
</cp:coreProperties>
</file>